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7" r:id="rId9"/>
    <p:sldId id="269" r:id="rId10"/>
    <p:sldId id="270" r:id="rId11"/>
    <p:sldId id="271" r:id="rId12"/>
    <p:sldId id="262" r:id="rId13"/>
    <p:sldId id="263" r:id="rId14"/>
    <p:sldId id="264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2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32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4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59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8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2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44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8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01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07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8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97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13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3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5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Media Content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Data-driven Approach to Content </a:t>
            </a:r>
            <a:r>
              <a:rPr lang="en-US" dirty="0" smtClean="0"/>
              <a:t>Analysis</a:t>
            </a:r>
          </a:p>
          <a:p>
            <a:r>
              <a:rPr lang="en-US" dirty="0" smtClean="0"/>
              <a:t>By</a:t>
            </a:r>
            <a:r>
              <a:rPr lang="en-US" dirty="0"/>
              <a:t>: Abhishek Niraj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Introduction</a:t>
            </a:r>
          </a:p>
          <a:p>
            <a:r>
              <a:rPr sz="2400" dirty="0"/>
              <a:t>Architecture</a:t>
            </a:r>
          </a:p>
          <a:p>
            <a:r>
              <a:rPr sz="2400" dirty="0"/>
              <a:t>Methodology</a:t>
            </a:r>
          </a:p>
          <a:p>
            <a:r>
              <a:rPr sz="2400" dirty="0"/>
              <a:t>Schema</a:t>
            </a:r>
          </a:p>
          <a:p>
            <a:r>
              <a:rPr sz="2400" dirty="0"/>
              <a:t>Analysis</a:t>
            </a:r>
          </a:p>
          <a:p>
            <a:r>
              <a:rPr sz="2400" dirty="0"/>
              <a:t>Challenges</a:t>
            </a:r>
          </a:p>
          <a:p>
            <a:r>
              <a:rPr sz="2400" dirty="0"/>
              <a:t>Conclusions /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18048"/>
            <a:ext cx="7955280" cy="4145591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sz="2100" dirty="0"/>
              <a:t>A focused media content analytics platform to process and analyze data from YouTube and News Articles.</a:t>
            </a:r>
          </a:p>
          <a:p>
            <a:pPr algn="just">
              <a:lnSpc>
                <a:spcPct val="110000"/>
              </a:lnSpc>
            </a:pPr>
            <a:r>
              <a:rPr sz="2100" dirty="0"/>
              <a:t>Uses Python for metadata normalization, content attribute extraction, and usage statistics transformation.</a:t>
            </a:r>
          </a:p>
          <a:p>
            <a:pPr algn="just">
              <a:lnSpc>
                <a:spcPct val="110000"/>
              </a:lnSpc>
            </a:pPr>
            <a:r>
              <a:rPr sz="2100" dirty="0"/>
              <a:t>Implements a dimensional model in </a:t>
            </a:r>
            <a:r>
              <a:rPr lang="en-US" sz="2100" dirty="0" smtClean="0"/>
              <a:t>MYSQL</a:t>
            </a:r>
            <a:r>
              <a:rPr sz="2100" dirty="0" smtClean="0"/>
              <a:t> </a:t>
            </a:r>
            <a:r>
              <a:rPr sz="2100" dirty="0"/>
              <a:t>for content performance and audience engagement analysis.</a:t>
            </a:r>
          </a:p>
          <a:p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dirty="0" smtClean="0"/>
              <a:t> </a:t>
            </a:r>
            <a:r>
              <a:rPr sz="2500" b="1" dirty="0" smtClean="0"/>
              <a:t>Primary </a:t>
            </a:r>
            <a:r>
              <a:rPr sz="2500" b="1" dirty="0"/>
              <a:t>Data Sources:</a:t>
            </a:r>
          </a:p>
          <a:p>
            <a:pPr algn="just"/>
            <a:r>
              <a:rPr sz="2100" dirty="0" smtClean="0"/>
              <a:t>YouTube </a:t>
            </a:r>
            <a:r>
              <a:rPr sz="2100" dirty="0"/>
              <a:t>Data API v3: REST API with JSON responses, real-time API calls.</a:t>
            </a:r>
          </a:p>
          <a:p>
            <a:pPr algn="just"/>
            <a:r>
              <a:rPr sz="2100" dirty="0" smtClean="0"/>
              <a:t>News </a:t>
            </a:r>
            <a:r>
              <a:rPr sz="2100" dirty="0"/>
              <a:t>Category Dataset: JSON file with 200k+ news articles, one-time download.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80727"/>
            <a:ext cx="7886700" cy="4189443"/>
          </a:xfrm>
        </p:spPr>
        <p:txBody>
          <a:bodyPr>
            <a:normAutofit fontScale="47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sz="3700" b="1" dirty="0" smtClean="0"/>
              <a:t>High-Level</a:t>
            </a:r>
            <a:r>
              <a:rPr sz="3000" b="1" dirty="0" smtClean="0"/>
              <a:t> </a:t>
            </a:r>
            <a:r>
              <a:rPr sz="3700" b="1" dirty="0"/>
              <a:t>Architecture</a:t>
            </a:r>
            <a:r>
              <a:rPr sz="3700" b="1" dirty="0" smtClean="0"/>
              <a:t>:</a:t>
            </a:r>
            <a:endParaRPr sz="3700" dirty="0"/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sz="3200" b="1" dirty="0"/>
              <a:t>Data Ingestion:</a:t>
            </a:r>
          </a:p>
          <a:p>
            <a:pPr algn="just">
              <a:lnSpc>
                <a:spcPct val="120000"/>
              </a:lnSpc>
            </a:pPr>
            <a:r>
              <a:rPr sz="3000" dirty="0" smtClean="0"/>
              <a:t>YouTube </a:t>
            </a:r>
            <a:r>
              <a:rPr sz="3000" dirty="0"/>
              <a:t>API for real-time data.</a:t>
            </a:r>
          </a:p>
          <a:p>
            <a:pPr algn="just">
              <a:lnSpc>
                <a:spcPct val="120000"/>
              </a:lnSpc>
            </a:pPr>
            <a:r>
              <a:rPr sz="3000" dirty="0" smtClean="0"/>
              <a:t>News </a:t>
            </a:r>
            <a:r>
              <a:rPr sz="3000" dirty="0"/>
              <a:t>Dataset for historical data</a:t>
            </a:r>
            <a:r>
              <a:rPr sz="3000" dirty="0" smtClean="0"/>
              <a:t>.</a:t>
            </a:r>
            <a:endParaRPr sz="3000" dirty="0"/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sz="3700" b="1" dirty="0" smtClean="0"/>
              <a:t>Data </a:t>
            </a:r>
            <a:r>
              <a:rPr sz="3700" b="1" dirty="0"/>
              <a:t>Processing</a:t>
            </a:r>
            <a:r>
              <a:rPr sz="3700" b="1" dirty="0" smtClean="0"/>
              <a:t>:</a:t>
            </a:r>
            <a:endParaRPr sz="3700" b="1" dirty="0"/>
          </a:p>
          <a:p>
            <a:pPr algn="just"/>
            <a:r>
              <a:rPr sz="3200" dirty="0" smtClean="0"/>
              <a:t> </a:t>
            </a:r>
            <a:r>
              <a:rPr sz="3000" dirty="0"/>
              <a:t>Python for metadata normalization and feature extraction.</a:t>
            </a:r>
          </a:p>
          <a:p>
            <a:pPr algn="just"/>
            <a:r>
              <a:rPr sz="3000" dirty="0" smtClean="0"/>
              <a:t> Big Query </a:t>
            </a:r>
            <a:r>
              <a:rPr sz="3000" dirty="0"/>
              <a:t>for dimensional modeling.</a:t>
            </a:r>
          </a:p>
          <a:p>
            <a:pPr marL="0" indent="0" algn="just">
              <a:buNone/>
            </a:pPr>
            <a:endParaRPr dirty="0"/>
          </a:p>
          <a:p>
            <a:pPr algn="just">
              <a:buFont typeface="Wingdings" panose="05000000000000000000" pitchFamily="2" charset="2"/>
              <a:buChar char="Ø"/>
            </a:pPr>
            <a:r>
              <a:rPr sz="3700" b="1" dirty="0" smtClean="0"/>
              <a:t>Analytics </a:t>
            </a:r>
            <a:r>
              <a:rPr sz="3700" b="1" dirty="0"/>
              <a:t>Engine:</a:t>
            </a:r>
          </a:p>
          <a:p>
            <a:pPr algn="just"/>
            <a:r>
              <a:rPr sz="3000" dirty="0" smtClean="0"/>
              <a:t> </a:t>
            </a:r>
            <a:r>
              <a:rPr sz="3000" dirty="0"/>
              <a:t>Topic modeling, sentiment analysis, and popularity scoring.</a:t>
            </a:r>
          </a:p>
          <a:p>
            <a:pPr algn="just"/>
            <a:endParaRPr dirty="0"/>
          </a:p>
          <a:p>
            <a:pPr algn="just">
              <a:buFont typeface="Wingdings" panose="05000000000000000000" pitchFamily="2" charset="2"/>
              <a:buChar char="Ø"/>
            </a:pPr>
            <a:r>
              <a:rPr sz="3700" b="1" dirty="0"/>
              <a:t>Visualization:</a:t>
            </a:r>
          </a:p>
          <a:p>
            <a:pPr algn="just"/>
            <a:r>
              <a:rPr dirty="0" smtClean="0"/>
              <a:t> </a:t>
            </a:r>
            <a:r>
              <a:rPr sz="3000" dirty="0"/>
              <a:t>Streamlit dashboard for content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71396"/>
            <a:ext cx="7886700" cy="410556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500" b="1" dirty="0"/>
              <a:t>Core Functional Requirements</a:t>
            </a:r>
            <a:r>
              <a:rPr sz="2500" b="1" dirty="0" smtClean="0"/>
              <a:t>:</a:t>
            </a:r>
            <a:endParaRPr sz="25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200" b="1" dirty="0"/>
              <a:t>Content Metadata Processing:</a:t>
            </a:r>
          </a:p>
          <a:p>
            <a:pPr algn="just">
              <a:lnSpc>
                <a:spcPct val="150000"/>
              </a:lnSpc>
            </a:pPr>
            <a:r>
              <a:rPr sz="2000" dirty="0" smtClean="0"/>
              <a:t>Extract </a:t>
            </a:r>
            <a:r>
              <a:rPr sz="2000" dirty="0"/>
              <a:t>and normalize metadata from YouTube and News </a:t>
            </a:r>
            <a:r>
              <a:rPr sz="2000" dirty="0" smtClean="0"/>
              <a:t>Dataset.</a:t>
            </a:r>
            <a:endParaRPr lang="en-US" sz="2000" dirty="0"/>
          </a:p>
          <a:p>
            <a:pPr algn="just">
              <a:lnSpc>
                <a:spcPct val="150000"/>
              </a:lnSpc>
            </a:pPr>
            <a:r>
              <a:rPr sz="2000" dirty="0" smtClean="0"/>
              <a:t>Create </a:t>
            </a:r>
            <a:r>
              <a:rPr sz="2000" dirty="0"/>
              <a:t>a unified content catalog.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500" b="1" dirty="0" smtClean="0"/>
              <a:t>Performance </a:t>
            </a:r>
            <a:r>
              <a:rPr sz="2500" b="1" dirty="0"/>
              <a:t>Data Collection:</a:t>
            </a:r>
          </a:p>
          <a:p>
            <a:pPr algn="just">
              <a:lnSpc>
                <a:spcPct val="150000"/>
              </a:lnSpc>
            </a:pPr>
            <a:r>
              <a:rPr sz="2000" dirty="0" smtClean="0"/>
              <a:t>Collect </a:t>
            </a:r>
            <a:r>
              <a:rPr sz="2000" dirty="0"/>
              <a:t>YouTube metrics (views, likes, comments).</a:t>
            </a:r>
          </a:p>
          <a:p>
            <a:pPr algn="just">
              <a:lnSpc>
                <a:spcPct val="150000"/>
              </a:lnSpc>
            </a:pPr>
            <a:r>
              <a:rPr sz="2000" dirty="0" smtClean="0"/>
              <a:t>Simulate </a:t>
            </a:r>
            <a:r>
              <a:rPr sz="2000" dirty="0"/>
              <a:t>engagement metrics for news articles</a:t>
            </a:r>
            <a:r>
              <a:rPr sz="2000" dirty="0" smtClean="0"/>
              <a:t>.</a:t>
            </a:r>
            <a:endParaRPr sz="2000" dirty="0"/>
          </a:p>
          <a:p>
            <a:pPr marL="0" indent="0">
              <a:lnSpc>
                <a:spcPct val="150000"/>
              </a:lnSpc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8171"/>
            <a:ext cx="7772400" cy="4093031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300" b="1" dirty="0" smtClean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 smtClean="0"/>
              <a:t>Content </a:t>
            </a:r>
            <a:r>
              <a:rPr lang="en-US" sz="2300" b="1" dirty="0"/>
              <a:t>Analysis Engine: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Topic modeling, text analysis, sentiment analysis, and popularity scoring</a:t>
            </a:r>
            <a:r>
              <a:rPr lang="en-US" sz="2000" dirty="0" smtClean="0"/>
              <a:t>.</a:t>
            </a:r>
            <a:endParaRPr lang="en-US" sz="2000" b="1" dirty="0" smtClean="0"/>
          </a:p>
          <a:p>
            <a:pPr marL="0" indent="0" algn="just">
              <a:buNone/>
            </a:pPr>
            <a:endParaRPr lang="en-US" sz="1900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300" b="1" dirty="0" smtClean="0"/>
              <a:t>Dimensional Modeling:</a:t>
            </a:r>
          </a:p>
          <a:p>
            <a:pPr algn="just"/>
            <a:r>
              <a:rPr lang="en-US" sz="2000" dirty="0" smtClean="0"/>
              <a:t>Star schema with content, time, and category dimensions.</a:t>
            </a:r>
          </a:p>
          <a:p>
            <a:pPr algn="just"/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300" b="1" dirty="0" smtClean="0"/>
              <a:t>Data Charts and Analytics:</a:t>
            </a:r>
          </a:p>
          <a:p>
            <a:pPr algn="just"/>
            <a:r>
              <a:rPr lang="en-US" sz="2000" dirty="0" smtClean="0"/>
              <a:t>Performance metrics, trend analysis, and content recommendations.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4450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18049"/>
            <a:ext cx="7886700" cy="405891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300" b="1" dirty="0"/>
              <a:t>Dimensional Model </a:t>
            </a:r>
            <a:r>
              <a:rPr sz="2300" b="1" dirty="0" smtClean="0"/>
              <a:t>:</a:t>
            </a:r>
            <a:endParaRPr sz="23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000" b="1" dirty="0"/>
              <a:t>Content Dimension:</a:t>
            </a:r>
          </a:p>
          <a:p>
            <a:pPr>
              <a:lnSpc>
                <a:spcPct val="150000"/>
              </a:lnSpc>
            </a:pPr>
            <a:r>
              <a:rPr sz="1900" dirty="0" smtClean="0"/>
              <a:t>Video </a:t>
            </a:r>
            <a:r>
              <a:rPr sz="1900" dirty="0"/>
              <a:t>and article metadata with categorization</a:t>
            </a:r>
            <a:r>
              <a:rPr sz="1900" dirty="0" smtClean="0"/>
              <a:t>.</a:t>
            </a:r>
            <a:endParaRPr sz="19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300" b="1" dirty="0"/>
              <a:t>Time Dimension:</a:t>
            </a:r>
          </a:p>
          <a:p>
            <a:pPr>
              <a:lnSpc>
                <a:spcPct val="150000"/>
              </a:lnSpc>
            </a:pPr>
            <a:r>
              <a:rPr sz="1900" dirty="0" smtClean="0"/>
              <a:t>Granularity </a:t>
            </a:r>
            <a:r>
              <a:rPr sz="1900" dirty="0"/>
              <a:t>for daily, weekly, and monthly analysis</a:t>
            </a:r>
            <a:r>
              <a:rPr sz="1900" dirty="0" smtClean="0"/>
              <a:t>.</a:t>
            </a:r>
            <a:endParaRPr sz="19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300" b="1" dirty="0"/>
              <a:t>Source and Category Dimensions:</a:t>
            </a:r>
          </a:p>
          <a:p>
            <a:pPr>
              <a:lnSpc>
                <a:spcPct val="150000"/>
              </a:lnSpc>
            </a:pPr>
            <a:r>
              <a:rPr sz="1900" dirty="0" smtClean="0"/>
              <a:t>YouTube </a:t>
            </a:r>
            <a:r>
              <a:rPr sz="1900" dirty="0"/>
              <a:t>vs. News, and article categories.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b="1" dirty="0" smtClean="0"/>
              <a:t>Fact Tables:</a:t>
            </a:r>
          </a:p>
          <a:p>
            <a:r>
              <a:rPr lang="en-US" sz="2000" dirty="0" smtClean="0"/>
              <a:t>Content performance (views, likes, comments) and engagement metrics.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dirty="0" smtClean="0"/>
              <a:t>Star Schema Diagram:</a:t>
            </a:r>
          </a:p>
          <a:p>
            <a:r>
              <a:rPr lang="en-US" sz="2000" dirty="0" smtClean="0"/>
              <a:t>Central fact table connected to dimension tables (Content, Time, Source, Category).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021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 Schema Design: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0" y="2267339"/>
            <a:ext cx="7645137" cy="3974841"/>
          </a:xfrm>
        </p:spPr>
        <p:txBody>
          <a:bodyPr/>
          <a:lstStyle/>
          <a:p>
            <a:r>
              <a:rPr lang="en-US" sz="2000" b="1" dirty="0" smtClean="0"/>
              <a:t>Fact Table </a:t>
            </a:r>
            <a:r>
              <a:rPr lang="en-US" dirty="0" smtClean="0"/>
              <a:t>: </a:t>
            </a:r>
            <a:r>
              <a:rPr lang="en-US" dirty="0" err="1" smtClean="0"/>
              <a:t>fact_content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Headline ID, Headline, </a:t>
            </a:r>
            <a:r>
              <a:rPr lang="en-US" dirty="0" smtClean="0"/>
              <a:t>Date ID</a:t>
            </a:r>
            <a:r>
              <a:rPr lang="en-US" dirty="0"/>
              <a:t>, Category ID, Engagement </a:t>
            </a:r>
            <a:r>
              <a:rPr lang="en-US" dirty="0" smtClean="0"/>
              <a:t>ID</a:t>
            </a:r>
            <a:endParaRPr lang="en-US" sz="2000" b="1" dirty="0" smtClean="0"/>
          </a:p>
          <a:p>
            <a:r>
              <a:rPr lang="en-US" sz="2000" b="1" dirty="0" smtClean="0"/>
              <a:t>Dimension Tables: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d</a:t>
            </a:r>
            <a:r>
              <a:rPr lang="en-US" dirty="0" err="1" smtClean="0"/>
              <a:t>im_engagement</a:t>
            </a:r>
            <a:r>
              <a:rPr lang="en-US" dirty="0" smtClean="0"/>
              <a:t>(Views, Likes, Comments, Engagement Rate)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d</a:t>
            </a:r>
            <a:r>
              <a:rPr lang="en-US" dirty="0" err="1" smtClean="0"/>
              <a:t>im_date</a:t>
            </a:r>
            <a:r>
              <a:rPr lang="en-US" dirty="0" smtClean="0"/>
              <a:t>(</a:t>
            </a:r>
            <a:r>
              <a:rPr lang="en-US" dirty="0" err="1" smtClean="0"/>
              <a:t>Publish_Date</a:t>
            </a:r>
            <a:r>
              <a:rPr lang="en-US" dirty="0" smtClean="0"/>
              <a:t>, Day, Month, Year, Week, Day of Week)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d</a:t>
            </a:r>
            <a:r>
              <a:rPr lang="en-US" dirty="0" err="1" smtClean="0"/>
              <a:t>im_content</a:t>
            </a:r>
            <a:r>
              <a:rPr lang="en-US" dirty="0" smtClean="0"/>
              <a:t>(Grouped Category)</a:t>
            </a:r>
          </a:p>
          <a:p>
            <a:r>
              <a:rPr lang="en-US" sz="2000" b="1" dirty="0" smtClean="0"/>
              <a:t>Normalization: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Reduced redundancy &amp; Optimized Queries</a:t>
            </a:r>
          </a:p>
        </p:txBody>
      </p:sp>
    </p:spTree>
    <p:extLst>
      <p:ext uri="{BB962C8B-B14F-4D97-AF65-F5344CB8AC3E}">
        <p14:creationId xmlns:p14="http://schemas.microsoft.com/office/powerpoint/2010/main" val="4019566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 Schema Diagram: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52" y="2090057"/>
            <a:ext cx="7576456" cy="4413379"/>
          </a:xfrm>
        </p:spPr>
      </p:pic>
    </p:spTree>
    <p:extLst>
      <p:ext uri="{BB962C8B-B14F-4D97-AF65-F5344CB8AC3E}">
        <p14:creationId xmlns:p14="http://schemas.microsoft.com/office/powerpoint/2010/main" val="4198940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Bar Chart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1" y="2239347"/>
            <a:ext cx="7613779" cy="4086808"/>
          </a:xfrm>
        </p:spPr>
      </p:pic>
    </p:spTree>
    <p:extLst>
      <p:ext uri="{BB962C8B-B14F-4D97-AF65-F5344CB8AC3E}">
        <p14:creationId xmlns:p14="http://schemas.microsoft.com/office/powerpoint/2010/main" val="3496468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6041"/>
            <a:ext cx="7886700" cy="4030922"/>
          </a:xfrm>
        </p:spPr>
        <p:txBody>
          <a:bodyPr>
            <a:normAutofit fontScale="47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sz="3500" b="1" dirty="0"/>
              <a:t>Content Performance Analysis:</a:t>
            </a:r>
          </a:p>
          <a:p>
            <a:pPr algn="just"/>
            <a:r>
              <a:rPr sz="2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YouTube </a:t>
            </a:r>
            <a:r>
              <a:rPr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metrics (views, likes, comments) over time.</a:t>
            </a:r>
          </a:p>
          <a:p>
            <a:pPr algn="just"/>
            <a:r>
              <a:rPr sz="2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Simulated </a:t>
            </a:r>
            <a:r>
              <a:rPr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metrics for news articles.</a:t>
            </a:r>
          </a:p>
          <a:p>
            <a:pPr algn="just"/>
            <a:endParaRPr dirty="0"/>
          </a:p>
          <a:p>
            <a:pPr algn="just">
              <a:buFont typeface="Wingdings" panose="05000000000000000000" pitchFamily="2" charset="2"/>
              <a:buChar char="Ø"/>
            </a:pPr>
            <a:r>
              <a:rPr sz="3300" b="1" dirty="0"/>
              <a:t>Content Categorization:</a:t>
            </a:r>
          </a:p>
          <a:p>
            <a:pPr algn="just"/>
            <a:r>
              <a:rPr sz="2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</a:t>
            </a:r>
            <a:r>
              <a:rPr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 for YouTube videos and news articles.</a:t>
            </a:r>
          </a:p>
          <a:p>
            <a:pPr algn="just"/>
            <a:r>
              <a:rPr sz="2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 </a:t>
            </a:r>
            <a:r>
              <a:rPr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for comments and descriptions.</a:t>
            </a:r>
          </a:p>
          <a:p>
            <a:pPr algn="just"/>
            <a:endParaRPr dirty="0"/>
          </a:p>
          <a:p>
            <a:pPr algn="just">
              <a:buFont typeface="Wingdings" panose="05000000000000000000" pitchFamily="2" charset="2"/>
              <a:buChar char="Ø"/>
            </a:pPr>
            <a:r>
              <a:rPr sz="3300" b="1" dirty="0"/>
              <a:t>Trend Identification:</a:t>
            </a:r>
          </a:p>
          <a:p>
            <a:pPr algn="just"/>
            <a:r>
              <a:rPr sz="2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</a:t>
            </a:r>
            <a:r>
              <a:rPr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for content performance trends.</a:t>
            </a:r>
          </a:p>
          <a:p>
            <a:pPr algn="just"/>
            <a:endParaRPr dirty="0"/>
          </a:p>
          <a:p>
            <a:pPr algn="just">
              <a:buFont typeface="Wingdings" panose="05000000000000000000" pitchFamily="2" charset="2"/>
              <a:buChar char="Ø"/>
            </a:pPr>
            <a:r>
              <a:rPr sz="3300" b="1" dirty="0"/>
              <a:t>Content Recommendations:</a:t>
            </a:r>
          </a:p>
          <a:p>
            <a:pPr algn="just"/>
            <a:r>
              <a:rPr sz="29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Similarity </a:t>
            </a:r>
            <a:r>
              <a:rPr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 for content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99387"/>
            <a:ext cx="7886700" cy="4077575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300" b="1" dirty="0"/>
              <a:t>Data Integration Challenges:</a:t>
            </a:r>
          </a:p>
          <a:p>
            <a:r>
              <a:rPr sz="1900" dirty="0" smtClean="0"/>
              <a:t>Normalizing </a:t>
            </a:r>
            <a:r>
              <a:rPr sz="1900" dirty="0"/>
              <a:t>metadata from different sources (YouTube API and News Dataset</a:t>
            </a:r>
            <a:r>
              <a:rPr sz="1900" dirty="0" smtClean="0"/>
              <a:t>).</a:t>
            </a:r>
            <a:endParaRPr lang="en-US" sz="1900" dirty="0" smtClean="0"/>
          </a:p>
          <a:p>
            <a:pPr marL="0" indent="0">
              <a:buNone/>
            </a:pP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sz="2300" b="1" dirty="0"/>
              <a:t>API Limitations:</a:t>
            </a:r>
          </a:p>
          <a:p>
            <a:r>
              <a:rPr sz="1900" dirty="0" smtClean="0"/>
              <a:t>YouTube </a:t>
            </a:r>
            <a:r>
              <a:rPr sz="1900" dirty="0"/>
              <a:t>API quota limits (10,000 units/day).</a:t>
            </a:r>
          </a:p>
          <a:p>
            <a:pPr marL="0" indent="0">
              <a:buNone/>
            </a:pP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sz="2300" b="1" dirty="0"/>
              <a:t>Text Analysis Complexity:</a:t>
            </a:r>
          </a:p>
          <a:p>
            <a:r>
              <a:rPr sz="1900" dirty="0" smtClean="0"/>
              <a:t>Topic </a:t>
            </a:r>
            <a:r>
              <a:rPr sz="1900" dirty="0"/>
              <a:t>modeling and sentiment analysis for large datasets.</a:t>
            </a:r>
          </a:p>
          <a:p>
            <a:pPr marL="0" indent="0">
              <a:buNone/>
            </a:pP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sz="2300" b="1" dirty="0"/>
              <a:t>Performance Optimization:</a:t>
            </a:r>
          </a:p>
          <a:p>
            <a:r>
              <a:rPr sz="1900" dirty="0" smtClean="0"/>
              <a:t>Ensuring </a:t>
            </a:r>
            <a:r>
              <a:rPr lang="en-US" sz="1900" dirty="0" smtClean="0"/>
              <a:t>MYSQL</a:t>
            </a:r>
            <a:r>
              <a:rPr sz="1900" dirty="0" smtClean="0"/>
              <a:t> </a:t>
            </a:r>
            <a:r>
              <a:rPr sz="1900" dirty="0"/>
              <a:t>query performance for large-scale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/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6041"/>
            <a:ext cx="7886700" cy="403092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300" b="1" dirty="0"/>
              <a:t>Key Achievements:</a:t>
            </a:r>
          </a:p>
          <a:p>
            <a:pPr algn="just">
              <a:lnSpc>
                <a:spcPct val="100000"/>
              </a:lnSpc>
            </a:pPr>
            <a:r>
              <a:rPr sz="1900" dirty="0" smtClean="0"/>
              <a:t>Successful </a:t>
            </a:r>
            <a:r>
              <a:rPr sz="1900" dirty="0"/>
              <a:t>integration of YouTube and News Dataset.</a:t>
            </a:r>
          </a:p>
          <a:p>
            <a:pPr algn="just">
              <a:lnSpc>
                <a:spcPct val="100000"/>
              </a:lnSpc>
            </a:pPr>
            <a:r>
              <a:rPr sz="1900" dirty="0" smtClean="0"/>
              <a:t>Unified </a:t>
            </a:r>
            <a:r>
              <a:rPr sz="1900" dirty="0"/>
              <a:t>content catalog with consistent metadata.</a:t>
            </a:r>
          </a:p>
          <a:p>
            <a:pPr algn="just">
              <a:lnSpc>
                <a:spcPct val="100000"/>
              </a:lnSpc>
            </a:pPr>
            <a:r>
              <a:rPr sz="1900" dirty="0" smtClean="0"/>
              <a:t>Advanced </a:t>
            </a:r>
            <a:r>
              <a:rPr sz="1900" dirty="0"/>
              <a:t>text analysis (topic modeling, sentiment analysis).</a:t>
            </a:r>
          </a:p>
          <a:p>
            <a:pPr algn="just">
              <a:lnSpc>
                <a:spcPct val="100000"/>
              </a:lnSpc>
            </a:pPr>
            <a:r>
              <a:rPr sz="1900" dirty="0" smtClean="0"/>
              <a:t>Streamlit </a:t>
            </a:r>
            <a:r>
              <a:rPr sz="1900" dirty="0"/>
              <a:t>dashboard for interactive content analytics.</a:t>
            </a:r>
          </a:p>
          <a:p>
            <a:pPr marL="0" indent="0" algn="just">
              <a:lnSpc>
                <a:spcPct val="100000"/>
              </a:lnSpc>
              <a:buNone/>
            </a:pPr>
            <a:endParaRPr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300" b="1" dirty="0"/>
              <a:t>Future Enhancements:</a:t>
            </a:r>
          </a:p>
          <a:p>
            <a:pPr algn="just">
              <a:lnSpc>
                <a:spcPct val="100000"/>
              </a:lnSpc>
            </a:pPr>
            <a:r>
              <a:rPr sz="1900" dirty="0" smtClean="0"/>
              <a:t>Expand </a:t>
            </a:r>
            <a:r>
              <a:rPr sz="1900" dirty="0"/>
              <a:t>data sources (e.g., social media platforms).</a:t>
            </a:r>
          </a:p>
          <a:p>
            <a:pPr algn="just">
              <a:lnSpc>
                <a:spcPct val="100000"/>
              </a:lnSpc>
            </a:pPr>
            <a:r>
              <a:rPr sz="1900" dirty="0" smtClean="0"/>
              <a:t>Implement </a:t>
            </a:r>
            <a:r>
              <a:rPr sz="1900" dirty="0"/>
              <a:t>machine learning for predictive analytics.</a:t>
            </a:r>
          </a:p>
          <a:p>
            <a:pPr algn="just">
              <a:lnSpc>
                <a:spcPct val="100000"/>
              </a:lnSpc>
            </a:pPr>
            <a:r>
              <a:rPr sz="1900" smtClean="0"/>
              <a:t>Optimize </a:t>
            </a:r>
            <a:r>
              <a:rPr lang="en-US" sz="1900" smtClean="0"/>
              <a:t>MYSQL </a:t>
            </a:r>
            <a:r>
              <a:rPr sz="1900" smtClean="0"/>
              <a:t>performance </a:t>
            </a:r>
            <a:r>
              <a:rPr sz="1900" dirty="0"/>
              <a:t>for larger datasets.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59" y="2489200"/>
            <a:ext cx="7660432" cy="3530600"/>
          </a:xfrm>
        </p:spPr>
      </p:pic>
    </p:spTree>
    <p:extLst>
      <p:ext uri="{BB962C8B-B14F-4D97-AF65-F5344CB8AC3E}">
        <p14:creationId xmlns:p14="http://schemas.microsoft.com/office/powerpoint/2010/main" val="4103292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460</TotalTime>
  <Words>584</Words>
  <Application>Microsoft Office PowerPoint</Application>
  <PresentationFormat>On-screen Show (4:3)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Wingdings</vt:lpstr>
      <vt:lpstr>Wingdings 3</vt:lpstr>
      <vt:lpstr>Ion Boardroom</vt:lpstr>
      <vt:lpstr>Media Content Analytics Platform</vt:lpstr>
      <vt:lpstr>Table of Contents</vt:lpstr>
      <vt:lpstr>Introduction</vt:lpstr>
      <vt:lpstr>Architecture</vt:lpstr>
      <vt:lpstr>Methodology</vt:lpstr>
      <vt:lpstr>Methodology</vt:lpstr>
      <vt:lpstr>Schema</vt:lpstr>
      <vt:lpstr>Schema</vt:lpstr>
      <vt:lpstr>Star Schema Design:</vt:lpstr>
      <vt:lpstr>Star Schema Diagram:</vt:lpstr>
      <vt:lpstr>Bar Chart:</vt:lpstr>
      <vt:lpstr>Analysis</vt:lpstr>
      <vt:lpstr>Challenges</vt:lpstr>
      <vt:lpstr>Conclusions / Findings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Content Analytics Platform</dc:title>
  <dc:subject/>
  <dc:creator/>
  <cp:keywords/>
  <dc:description>generated using python-pptx</dc:description>
  <cp:lastModifiedBy>Abhishek Niraj</cp:lastModifiedBy>
  <cp:revision>76</cp:revision>
  <dcterms:created xsi:type="dcterms:W3CDTF">2013-01-27T09:14:16Z</dcterms:created>
  <dcterms:modified xsi:type="dcterms:W3CDTF">2025-03-25T07:38:53Z</dcterms:modified>
  <cp:category/>
</cp:coreProperties>
</file>